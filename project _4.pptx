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9" r:id="rId4"/>
  </p:sldMasterIdLst>
  <p:notesMasterIdLst>
    <p:notesMasterId r:id="rId19"/>
  </p:notesMasterIdLst>
  <p:handoutMasterIdLst>
    <p:handoutMasterId r:id="rId20"/>
  </p:handoutMasterIdLst>
  <p:sldIdLst>
    <p:sldId id="264" r:id="rId5"/>
    <p:sldId id="265" r:id="rId6"/>
    <p:sldId id="266" r:id="rId7"/>
    <p:sldId id="267" r:id="rId8"/>
    <p:sldId id="268" r:id="rId9"/>
    <p:sldId id="275" r:id="rId10"/>
    <p:sldId id="270" r:id="rId11"/>
    <p:sldId id="269" r:id="rId12"/>
    <p:sldId id="276" r:id="rId13"/>
    <p:sldId id="271" r:id="rId14"/>
    <p:sldId id="277"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EC1CF7-3228-4BB0-8A24-B700DAD50DCE}" v="166" dt="2026-04-25T16:11:07.644"/>
    <p1510:client id="{BD11A939-22E4-40EB-B20D-3DE9C6D66834}" v="266" dt="2026-04-25T15:30:26.295"/>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469"/>
  </p:normalViewPr>
  <p:slideViewPr>
    <p:cSldViewPr snapToGrid="0">
      <p:cViewPr>
        <p:scale>
          <a:sx n="100" d="100"/>
          <a:sy n="100" d="100"/>
        </p:scale>
        <p:origin x="-269" y="-538"/>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4/25/2026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dirty="0"/>
              <a:t>Click to edit Master title style</a:t>
            </a:r>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4/25/2026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8443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18447" y="803186"/>
            <a:ext cx="6281873" cy="5248622"/>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5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72300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dirty="0"/>
              <a:t>Click to edit Master title style</a:t>
            </a:r>
          </a:p>
        </p:txBody>
      </p:sp>
      <p:sp>
        <p:nvSpPr>
          <p:cNvPr id="3" name="Content Placeholder 2"/>
          <p:cNvSpPr>
            <a:spLocks noGrp="1"/>
          </p:cNvSpPr>
          <p:nvPr>
            <p:ph sz="half" idx="1"/>
          </p:nvPr>
        </p:nvSpPr>
        <p:spPr>
          <a:xfrm>
            <a:off x="5120878" y="803187"/>
            <a:ext cx="6269591" cy="238265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18447" y="3672162"/>
            <a:ext cx="6272022" cy="23835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83074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46643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4/25/2026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8759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0206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09983" y="802809"/>
            <a:ext cx="6275035" cy="5249940"/>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696692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dirty="0"/>
              <a:t>Click to edit Master title style</a:t>
            </a:r>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4399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70847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4/25/2026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64117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12887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4/25/2026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655025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dirty="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4/25/2026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352763304"/>
      </p:ext>
    </p:extLst>
  </p:cSld>
  <p:clrMap bg1="lt1" tx1="dk1" bg2="lt2" tx2="dk2" accent1="accent1" accent2="accent2" accent3="accent3" accent4="accent4" accent5="accent5" accent6="accent6" hlink="hlink" folHlink="folHlink"/>
  <p:sldLayoutIdLst>
    <p:sldLayoutId id="2147484170" r:id="rId1"/>
    <p:sldLayoutId id="2147484171" r:id="rId2"/>
    <p:sldLayoutId id="2147484172" r:id="rId3"/>
    <p:sldLayoutId id="2147484173" r:id="rId4"/>
    <p:sldLayoutId id="2147484174" r:id="rId5"/>
    <p:sldLayoutId id="2147484175" r:id="rId6"/>
    <p:sldLayoutId id="2147484176" r:id="rId7"/>
    <p:sldLayoutId id="2147484177" r:id="rId8"/>
    <p:sldLayoutId id="2147484178" r:id="rId9"/>
    <p:sldLayoutId id="2147484179" r:id="rId10"/>
    <p:sldLayoutId id="2147484180" r:id="rId11"/>
    <p:sldLayoutId id="2147484181" r:id="rId12"/>
    <p:sldLayoutId id="2147484182" r:id="rId13"/>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534-D45B-C515-59E3-4C260019E016}"/>
              </a:ext>
            </a:extLst>
          </p:cNvPr>
          <p:cNvSpPr>
            <a:spLocks noGrp="1"/>
          </p:cNvSpPr>
          <p:nvPr>
            <p:ph type="ctrTitle"/>
          </p:nvPr>
        </p:nvSpPr>
        <p:spPr>
          <a:xfrm>
            <a:off x="3151594" y="1605915"/>
            <a:ext cx="5830939" cy="2632854"/>
          </a:xfrm>
        </p:spPr>
        <p:txBody>
          <a:bodyPr/>
          <a:lstStyle/>
          <a:p>
            <a:r>
              <a:rPr lang="en-US" sz="4000" dirty="0">
                <a:latin typeface="Arial"/>
                <a:cs typeface="Arial"/>
              </a:rPr>
              <a:t>MOBILE PHONE PRICE PREDICTION</a:t>
            </a:r>
            <a:endParaRPr lang="en-US" sz="4000"/>
          </a:p>
          <a:p>
            <a:endParaRPr lang="en-US" dirty="0"/>
          </a:p>
        </p:txBody>
      </p:sp>
      <p:sp>
        <p:nvSpPr>
          <p:cNvPr id="3" name="Subtitle 2">
            <a:extLst>
              <a:ext uri="{FF2B5EF4-FFF2-40B4-BE49-F238E27FC236}">
                <a16:creationId xmlns:a16="http://schemas.microsoft.com/office/drawing/2014/main" id="{22950508-6902-F575-FCC4-234E6821BF41}"/>
              </a:ext>
            </a:extLst>
          </p:cNvPr>
          <p:cNvSpPr>
            <a:spLocks noGrp="1"/>
          </p:cNvSpPr>
          <p:nvPr>
            <p:ph type="subTitle" idx="1"/>
          </p:nvPr>
        </p:nvSpPr>
        <p:spPr/>
        <p:txBody>
          <a:bodyPr/>
          <a:lstStyle/>
          <a:p>
            <a:r>
              <a:rPr lang="en-US" sz="1800" b="1">
                <a:solidFill>
                  <a:schemeClr val="tx2"/>
                </a:solidFill>
                <a:latin typeface="Arial"/>
                <a:cs typeface="Arial"/>
              </a:rPr>
              <a:t>Feature Extraction &amp; Machine Learning Report</a:t>
            </a:r>
            <a:endParaRPr lang="en-US" sz="1800" b="1">
              <a:solidFill>
                <a:schemeClr val="tx2"/>
              </a:solidFill>
            </a:endParaRPr>
          </a:p>
          <a:p>
            <a:endParaRPr lang="en-US" dirty="0"/>
          </a:p>
        </p:txBody>
      </p:sp>
      <p:sp>
        <p:nvSpPr>
          <p:cNvPr id="6" name="TextBox 5">
            <a:extLst>
              <a:ext uri="{FF2B5EF4-FFF2-40B4-BE49-F238E27FC236}">
                <a16:creationId xmlns:a16="http://schemas.microsoft.com/office/drawing/2014/main" id="{8A8B2AA8-E276-DA3C-F98C-B1AFAAEC0FFB}"/>
              </a:ext>
            </a:extLst>
          </p:cNvPr>
          <p:cNvSpPr txBox="1"/>
          <p:nvPr/>
        </p:nvSpPr>
        <p:spPr>
          <a:xfrm>
            <a:off x="7968513" y="5706140"/>
            <a:ext cx="37355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Submited</a:t>
            </a:r>
            <a:r>
              <a:rPr lang="en-US" dirty="0"/>
              <a:t> By :</a:t>
            </a:r>
          </a:p>
          <a:p>
            <a:r>
              <a:rPr lang="en-US" dirty="0"/>
              <a:t>Biranchi Narayan </a:t>
            </a:r>
            <a:r>
              <a:rPr lang="en-US"/>
              <a:t>Mohapatra</a:t>
            </a:r>
          </a:p>
        </p:txBody>
      </p:sp>
    </p:spTree>
    <p:extLst>
      <p:ext uri="{BB962C8B-B14F-4D97-AF65-F5344CB8AC3E}">
        <p14:creationId xmlns:p14="http://schemas.microsoft.com/office/powerpoint/2010/main" val="269995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99EB-E15D-C104-7FF5-7F22A4BEDF57}"/>
              </a:ext>
            </a:extLst>
          </p:cNvPr>
          <p:cNvSpPr>
            <a:spLocks noGrp="1"/>
          </p:cNvSpPr>
          <p:nvPr>
            <p:ph type="title"/>
          </p:nvPr>
        </p:nvSpPr>
        <p:spPr/>
        <p:txBody>
          <a:bodyPr>
            <a:normAutofit/>
          </a:bodyPr>
          <a:lstStyle/>
          <a:p>
            <a:pPr marL="742950" indent="-742950">
              <a:buAutoNum type="arabicPeriod"/>
            </a:pPr>
            <a:r>
              <a:rPr lang="en-US" b="1" u="sng">
                <a:ea typeface="+mj-lt"/>
                <a:cs typeface="+mj-lt"/>
              </a:rPr>
              <a:t>Introduction</a:t>
            </a:r>
            <a:endParaRPr lang="en-US" b="1" u="sng"/>
          </a:p>
        </p:txBody>
      </p:sp>
      <p:sp>
        <p:nvSpPr>
          <p:cNvPr id="4" name="Content Placeholder 3">
            <a:extLst>
              <a:ext uri="{FF2B5EF4-FFF2-40B4-BE49-F238E27FC236}">
                <a16:creationId xmlns:a16="http://schemas.microsoft.com/office/drawing/2014/main" id="{1A4CFDFB-F955-D795-6407-8E1E952CD115}"/>
              </a:ext>
            </a:extLst>
          </p:cNvPr>
          <p:cNvSpPr>
            <a:spLocks noGrp="1"/>
          </p:cNvSpPr>
          <p:nvPr>
            <p:ph sz="quarter" idx="13"/>
          </p:nvPr>
        </p:nvSpPr>
        <p:spPr>
          <a:xfrm>
            <a:off x="973393" y="1424459"/>
            <a:ext cx="10244960" cy="3741777"/>
          </a:xfrm>
        </p:spPr>
        <p:txBody>
          <a:bodyPr vert="horz" lIns="91440" tIns="45720" rIns="91440" bIns="45720" rtlCol="0" anchor="t">
            <a:normAutofit/>
          </a:bodyPr>
          <a:lstStyle/>
          <a:p>
            <a:r>
              <a:rPr lang="en-US" sz="2400" b="1" dirty="0">
                <a:ea typeface="+mn-lt"/>
                <a:cs typeface="+mn-lt"/>
              </a:rPr>
              <a:t>The mobile phone market is highly competitive, with pricing strategies influenced by multiple hardware and brand-related features. This project aims to build a predictive model that estimates mobile phone prices based on specifications such as RAM, memory, battery capacity, camera quality, processor type, and other attributes. By identifying the most influential features, the organization can refine its pricing strategy and marketing focus.</a:t>
            </a:r>
            <a:endParaRPr lang="en-US" sz="2400" b="1"/>
          </a:p>
        </p:txBody>
      </p:sp>
      <p:sp>
        <p:nvSpPr>
          <p:cNvPr id="5" name="Slide Number Placeholder 4">
            <a:extLst>
              <a:ext uri="{FF2B5EF4-FFF2-40B4-BE49-F238E27FC236}">
                <a16:creationId xmlns:a16="http://schemas.microsoft.com/office/drawing/2014/main" id="{5C383954-C25C-8C10-846E-87B5C1A33345}"/>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1611473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AEF2A-32B4-9D2B-66DB-BD4C46664996}"/>
              </a:ext>
            </a:extLst>
          </p:cNvPr>
          <p:cNvSpPr>
            <a:spLocks noGrp="1"/>
          </p:cNvSpPr>
          <p:nvPr>
            <p:ph type="title"/>
          </p:nvPr>
        </p:nvSpPr>
        <p:spPr/>
        <p:txBody>
          <a:bodyPr/>
          <a:lstStyle/>
          <a:p>
            <a:r>
              <a:rPr lang="en-US" b="1" u="sng">
                <a:ea typeface="+mj-lt"/>
                <a:cs typeface="+mj-lt"/>
              </a:rPr>
              <a:t>2. Dataset Overview</a:t>
            </a:r>
            <a:endParaRPr lang="en-US" b="1" u="sng"/>
          </a:p>
        </p:txBody>
      </p:sp>
      <p:sp>
        <p:nvSpPr>
          <p:cNvPr id="4" name="Content Placeholder 3">
            <a:extLst>
              <a:ext uri="{FF2B5EF4-FFF2-40B4-BE49-F238E27FC236}">
                <a16:creationId xmlns:a16="http://schemas.microsoft.com/office/drawing/2014/main" id="{DFB2D12C-8BE1-71BA-5F35-C4AAFC969785}"/>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The dataset contains detailed specifications of mobile phones, </a:t>
            </a:r>
            <a:r>
              <a:rPr lang="en-US" sz="2400" b="1" dirty="0" err="1">
                <a:ea typeface="+mn-lt"/>
                <a:cs typeface="+mn-lt"/>
              </a:rPr>
              <a:t>including:</a:t>
            </a:r>
            <a:r>
              <a:rPr lang="en-US" sz="2400" b="1" dirty="0">
                <a:ea typeface="+mn-lt"/>
                <a:cs typeface="+mn-lt"/>
              </a:rPr>
              <a:t> Model &amp; </a:t>
            </a:r>
            <a:r>
              <a:rPr lang="en-US" sz="2400" b="1" dirty="0" err="1">
                <a:ea typeface="+mn-lt"/>
                <a:cs typeface="+mn-lt"/>
              </a:rPr>
              <a:t>Colour</a:t>
            </a:r>
            <a:r>
              <a:rPr lang="en-US" sz="2400" b="1" dirty="0">
                <a:ea typeface="+mn-lt"/>
                <a:cs typeface="+mn-lt"/>
              </a:rPr>
              <a:t> (categorical features) Memory (GB) and RAM (GB) Battery capacity (</a:t>
            </a:r>
            <a:r>
              <a:rPr lang="en-US" sz="2400" b="1" dirty="0" err="1">
                <a:ea typeface="+mn-lt"/>
                <a:cs typeface="+mn-lt"/>
              </a:rPr>
              <a:t>mAh</a:t>
            </a:r>
            <a:r>
              <a:rPr lang="en-US" sz="2400" b="1" dirty="0">
                <a:ea typeface="+mn-lt"/>
                <a:cs typeface="+mn-lt"/>
              </a:rPr>
              <a:t>) Rear Camera &amp; Front Camera specifications AI Lens presence (binary) Mobile Height (cm) Processor type Price (₹) — target variable</a:t>
            </a:r>
            <a:endParaRPr lang="en-US" sz="1800" b="1"/>
          </a:p>
        </p:txBody>
      </p:sp>
      <p:sp>
        <p:nvSpPr>
          <p:cNvPr id="5" name="Slide Number Placeholder 4">
            <a:extLst>
              <a:ext uri="{FF2B5EF4-FFF2-40B4-BE49-F238E27FC236}">
                <a16:creationId xmlns:a16="http://schemas.microsoft.com/office/drawing/2014/main" id="{D69022EC-2DD0-77F8-23C5-C2DF02A5B899}"/>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
        <p:nvSpPr>
          <p:cNvPr id="6" name="TextBox 5">
            <a:extLst>
              <a:ext uri="{FF2B5EF4-FFF2-40B4-BE49-F238E27FC236}">
                <a16:creationId xmlns:a16="http://schemas.microsoft.com/office/drawing/2014/main" id="{7BA51147-BC19-ECDD-9BBD-B6B1836BB5CE}"/>
              </a:ext>
            </a:extLst>
          </p:cNvPr>
          <p:cNvSpPr txBox="1"/>
          <p:nvPr/>
        </p:nvSpPr>
        <p:spPr>
          <a:xfrm>
            <a:off x="1099595" y="3583330"/>
            <a:ext cx="829518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Observations:</a:t>
            </a:r>
          </a:p>
          <a:p>
            <a:pPr algn="ctr"/>
            <a:endParaRPr lang="en-US"/>
          </a:p>
        </p:txBody>
      </p:sp>
      <p:sp>
        <p:nvSpPr>
          <p:cNvPr id="7" name="TextBox 6">
            <a:extLst>
              <a:ext uri="{FF2B5EF4-FFF2-40B4-BE49-F238E27FC236}">
                <a16:creationId xmlns:a16="http://schemas.microsoft.com/office/drawing/2014/main" id="{31FD7F95-A54F-61E8-D7AC-398E755EAF4B}"/>
              </a:ext>
            </a:extLst>
          </p:cNvPr>
          <p:cNvSpPr txBox="1"/>
          <p:nvPr/>
        </p:nvSpPr>
        <p:spPr>
          <a:xfrm>
            <a:off x="1080303" y="3998088"/>
            <a:ext cx="629855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RAM ranges from 2 GB to 8 GB. Battery capacity ranges from 800 </a:t>
            </a:r>
            <a:r>
              <a:rPr lang="en-US" sz="2400" b="1" dirty="0" err="1"/>
              <a:t>mAh</a:t>
            </a:r>
            <a:r>
              <a:rPr lang="en-US" sz="2400" b="1" dirty="0"/>
              <a:t> (outliers) to 6000 </a:t>
            </a:r>
            <a:r>
              <a:rPr lang="en-US" sz="2400" b="1" dirty="0" err="1"/>
              <a:t>mAh</a:t>
            </a:r>
            <a:r>
              <a:rPr lang="en-US" sz="2400" b="1" dirty="0"/>
              <a:t>. Prices range from ₹1,299 to ₹49,999. Some anomalies exist (e.g., Micromax entries with 0MP cameras, unrealistic battery values).</a:t>
            </a:r>
          </a:p>
          <a:p>
            <a:pPr algn="ctr"/>
            <a:endParaRPr lang="en-US" sz="2400" b="1" dirty="0"/>
          </a:p>
        </p:txBody>
      </p:sp>
    </p:spTree>
    <p:extLst>
      <p:ext uri="{BB962C8B-B14F-4D97-AF65-F5344CB8AC3E}">
        <p14:creationId xmlns:p14="http://schemas.microsoft.com/office/powerpoint/2010/main" val="686420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2A34-443B-891A-BF68-126908DC8058}"/>
              </a:ext>
            </a:extLst>
          </p:cNvPr>
          <p:cNvSpPr>
            <a:spLocks noGrp="1"/>
          </p:cNvSpPr>
          <p:nvPr>
            <p:ph type="title"/>
          </p:nvPr>
        </p:nvSpPr>
        <p:spPr/>
        <p:txBody>
          <a:bodyPr/>
          <a:lstStyle/>
          <a:p>
            <a:r>
              <a:rPr lang="en-US">
                <a:ea typeface="+mj-lt"/>
                <a:cs typeface="+mj-lt"/>
              </a:rPr>
              <a:t>3. </a:t>
            </a:r>
            <a:r>
              <a:rPr lang="en-US" b="1" u="sng">
                <a:ea typeface="+mj-lt"/>
                <a:cs typeface="+mj-lt"/>
              </a:rPr>
              <a:t>Data Preprocessing</a:t>
            </a:r>
            <a:endParaRPr lang="en-US" b="1" u="sng"/>
          </a:p>
        </p:txBody>
      </p:sp>
      <p:sp>
        <p:nvSpPr>
          <p:cNvPr id="4" name="Content Placeholder 3">
            <a:extLst>
              <a:ext uri="{FF2B5EF4-FFF2-40B4-BE49-F238E27FC236}">
                <a16:creationId xmlns:a16="http://schemas.microsoft.com/office/drawing/2014/main" id="{4EFBF335-23BB-E47F-7621-7EE68567141C}"/>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Outlier removal: Dropped rows with unrealistic specs (battery &lt; 1000 </a:t>
            </a:r>
            <a:r>
              <a:rPr lang="en-US" sz="2400" b="1" dirty="0" err="1">
                <a:ea typeface="+mn-lt"/>
                <a:cs typeface="+mn-lt"/>
              </a:rPr>
              <a:t>mAh</a:t>
            </a:r>
            <a:r>
              <a:rPr lang="en-US" sz="2400" b="1" dirty="0">
                <a:ea typeface="+mn-lt"/>
                <a:cs typeface="+mn-lt"/>
              </a:rPr>
              <a:t>, 0MP cameras). Categorical encoding: One-hot encoding applied to Model, </a:t>
            </a:r>
            <a:r>
              <a:rPr lang="en-US" sz="2400" b="1" dirty="0" err="1">
                <a:ea typeface="+mn-lt"/>
                <a:cs typeface="+mn-lt"/>
              </a:rPr>
              <a:t>Colour</a:t>
            </a:r>
            <a:r>
              <a:rPr lang="en-US" sz="2400" b="1" dirty="0">
                <a:ea typeface="+mn-lt"/>
                <a:cs typeface="+mn-lt"/>
              </a:rPr>
              <a:t>, and Processor. Scaling: Standardized numerical features (RAM, Memory, Battery_, Mobile Height).</a:t>
            </a:r>
            <a:endParaRPr lang="en-US" sz="2400" b="1"/>
          </a:p>
        </p:txBody>
      </p:sp>
      <p:sp>
        <p:nvSpPr>
          <p:cNvPr id="5" name="Slide Number Placeholder 4">
            <a:extLst>
              <a:ext uri="{FF2B5EF4-FFF2-40B4-BE49-F238E27FC236}">
                <a16:creationId xmlns:a16="http://schemas.microsoft.com/office/drawing/2014/main" id="{B6EB3285-0E6F-812A-DDA6-992072885C49}"/>
              </a:ext>
            </a:extLst>
          </p:cNvPr>
          <p:cNvSpPr>
            <a:spLocks noGrp="1"/>
          </p:cNvSpPr>
          <p:nvPr>
            <p:ph type="sldNum" sz="quarter" idx="12"/>
          </p:nvPr>
        </p:nvSpPr>
        <p:spPr/>
        <p:txBody>
          <a:bodyPr/>
          <a:lstStyle/>
          <a:p>
            <a:fld id="{CC057153-B650-4DEB-B370-79DDCFDCE934}" type="slidenum">
              <a:rPr lang="en-US" smtClean="0"/>
              <a:pPr/>
              <a:t>4</a:t>
            </a:fld>
            <a:endParaRPr lang="en-US" dirty="0"/>
          </a:p>
        </p:txBody>
      </p:sp>
    </p:spTree>
    <p:extLst>
      <p:ext uri="{BB962C8B-B14F-4D97-AF65-F5344CB8AC3E}">
        <p14:creationId xmlns:p14="http://schemas.microsoft.com/office/powerpoint/2010/main" val="69376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AD4D8-9E6F-3486-71BB-0C2379FD9B01}"/>
              </a:ext>
            </a:extLst>
          </p:cNvPr>
          <p:cNvSpPr>
            <a:spLocks noGrp="1"/>
          </p:cNvSpPr>
          <p:nvPr>
            <p:ph type="title"/>
          </p:nvPr>
        </p:nvSpPr>
        <p:spPr/>
        <p:txBody>
          <a:bodyPr/>
          <a:lstStyle/>
          <a:p>
            <a:r>
              <a:rPr lang="en-US">
                <a:ea typeface="+mj-lt"/>
                <a:cs typeface="+mj-lt"/>
              </a:rPr>
              <a:t>4. </a:t>
            </a:r>
            <a:r>
              <a:rPr lang="en-US" b="1" u="sng">
                <a:ea typeface="+mj-lt"/>
                <a:cs typeface="+mj-lt"/>
              </a:rPr>
              <a:t>Feature Extraction</a:t>
            </a:r>
            <a:endParaRPr lang="en-US" b="1" u="sng"/>
          </a:p>
        </p:txBody>
      </p:sp>
      <p:sp>
        <p:nvSpPr>
          <p:cNvPr id="4" name="Content Placeholder 3">
            <a:extLst>
              <a:ext uri="{FF2B5EF4-FFF2-40B4-BE49-F238E27FC236}">
                <a16:creationId xmlns:a16="http://schemas.microsoft.com/office/drawing/2014/main" id="{008A3F9E-261B-B039-5A0B-8CD573648114}"/>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Correlation Analysis: RAM and Memory show strong positive correlation with price. Processor type significantly influences pricing (premium chipsets → higher prices). Rear Camera megapixels moderately correlated with price. Battery capacity has a weaker but noticeable effect. </a:t>
            </a:r>
            <a:r>
              <a:rPr lang="en-US" sz="2400" b="1" dirty="0" err="1">
                <a:ea typeface="+mn-lt"/>
                <a:cs typeface="+mn-lt"/>
              </a:rPr>
              <a:t>Colour</a:t>
            </a:r>
            <a:r>
              <a:rPr lang="en-US" sz="2400" b="1" dirty="0">
                <a:ea typeface="+mn-lt"/>
                <a:cs typeface="+mn-lt"/>
              </a:rPr>
              <a:t> and Mobile Height show negligible correlation.</a:t>
            </a:r>
          </a:p>
          <a:p>
            <a:r>
              <a:rPr lang="en-US" sz="2400" b="1" dirty="0">
                <a:ea typeface="+mn-lt"/>
                <a:cs typeface="+mn-lt"/>
              </a:rPr>
              <a:t>Feature Importance (Random Forest): RAM Memory Processor Rear Camera Battery capacity Model (brand effect) Front Camera (minor influence) AI Lens (minimal impact) </a:t>
            </a:r>
            <a:r>
              <a:rPr lang="en-US" sz="2400" b="1" dirty="0" err="1">
                <a:ea typeface="+mn-lt"/>
                <a:cs typeface="+mn-lt"/>
              </a:rPr>
              <a:t>Colour</a:t>
            </a:r>
            <a:r>
              <a:rPr lang="en-US" sz="2400" b="1" dirty="0">
                <a:ea typeface="+mn-lt"/>
                <a:cs typeface="+mn-lt"/>
              </a:rPr>
              <a:t> &amp; Height (least important)</a:t>
            </a:r>
            <a:endParaRPr lang="en-US" sz="2400" b="1"/>
          </a:p>
        </p:txBody>
      </p:sp>
      <p:sp>
        <p:nvSpPr>
          <p:cNvPr id="5" name="Slide Number Placeholder 4">
            <a:extLst>
              <a:ext uri="{FF2B5EF4-FFF2-40B4-BE49-F238E27FC236}">
                <a16:creationId xmlns:a16="http://schemas.microsoft.com/office/drawing/2014/main" id="{BA52784F-BF89-82A7-309B-A57B8BDF573C}"/>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Tree>
    <p:extLst>
      <p:ext uri="{BB962C8B-B14F-4D97-AF65-F5344CB8AC3E}">
        <p14:creationId xmlns:p14="http://schemas.microsoft.com/office/powerpoint/2010/main" val="974012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010C944-7F0B-BF5E-F077-591FFECF91BA}"/>
              </a:ext>
            </a:extLst>
          </p:cNvPr>
          <p:cNvPicPr>
            <a:picLocks noGrp="1" noChangeAspect="1"/>
          </p:cNvPicPr>
          <p:nvPr>
            <p:ph sz="quarter" idx="13"/>
          </p:nvPr>
        </p:nvPicPr>
        <p:blipFill>
          <a:blip r:embed="rId3"/>
          <a:srcRect r="1779" b="1"/>
          <a:stretch>
            <a:fillRect/>
          </a:stretch>
        </p:blipFill>
        <p:spPr>
          <a:xfrm>
            <a:off x="20" y="10"/>
            <a:ext cx="12191980" cy="6857990"/>
          </a:xfrm>
          <a:prstGeom prst="rect">
            <a:avLst/>
          </a:prstGeom>
        </p:spPr>
      </p:pic>
    </p:spTree>
    <p:extLst>
      <p:ext uri="{BB962C8B-B14F-4D97-AF65-F5344CB8AC3E}">
        <p14:creationId xmlns:p14="http://schemas.microsoft.com/office/powerpoint/2010/main" val="1985486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C2AD-339A-CAA7-6353-CB67CE5C6E55}"/>
              </a:ext>
            </a:extLst>
          </p:cNvPr>
          <p:cNvSpPr>
            <a:spLocks noGrp="1"/>
          </p:cNvSpPr>
          <p:nvPr>
            <p:ph type="title"/>
          </p:nvPr>
        </p:nvSpPr>
        <p:spPr/>
        <p:txBody>
          <a:bodyPr/>
          <a:lstStyle/>
          <a:p>
            <a:r>
              <a:rPr lang="en-US" b="1" u="sng">
                <a:ea typeface="+mj-lt"/>
                <a:cs typeface="+mj-lt"/>
              </a:rPr>
              <a:t>6. Model Evaluation</a:t>
            </a:r>
            <a:endParaRPr lang="en-US" b="1" u="sng"/>
          </a:p>
        </p:txBody>
      </p:sp>
      <p:sp>
        <p:nvSpPr>
          <p:cNvPr id="4" name="Content Placeholder 3">
            <a:extLst>
              <a:ext uri="{FF2B5EF4-FFF2-40B4-BE49-F238E27FC236}">
                <a16:creationId xmlns:a16="http://schemas.microsoft.com/office/drawing/2014/main" id="{7476C6D8-DF05-C365-E7CA-2E36C0F8E4D2}"/>
              </a:ext>
            </a:extLst>
          </p:cNvPr>
          <p:cNvSpPr>
            <a:spLocks noGrp="1"/>
          </p:cNvSpPr>
          <p:nvPr>
            <p:ph sz="quarter" idx="13"/>
          </p:nvPr>
        </p:nvSpPr>
        <p:spPr/>
        <p:txBody>
          <a:bodyPr vert="horz" lIns="91440" tIns="45720" rIns="91440" bIns="45720" rtlCol="0" anchor="t">
            <a:normAutofit/>
          </a:bodyPr>
          <a:lstStyle/>
          <a:p>
            <a:r>
              <a:rPr lang="en-US" sz="2400" b="1">
                <a:ea typeface="+mn-lt"/>
                <a:cs typeface="+mn-lt"/>
              </a:rPr>
              <a:t>Metrics used: Mean Absolute Error (MAE) Root Mean Squared Error (RMSE)</a:t>
            </a:r>
            <a:endParaRPr lang="en-US" sz="2400" b="1"/>
          </a:p>
        </p:txBody>
      </p:sp>
      <p:sp>
        <p:nvSpPr>
          <p:cNvPr id="5" name="Slide Number Placeholder 4">
            <a:extLst>
              <a:ext uri="{FF2B5EF4-FFF2-40B4-BE49-F238E27FC236}">
                <a16:creationId xmlns:a16="http://schemas.microsoft.com/office/drawing/2014/main" id="{A1741F92-12AA-1FFA-2233-AF2F02853AC1}"/>
              </a:ext>
            </a:extLst>
          </p:cNvPr>
          <p:cNvSpPr>
            <a:spLocks noGrp="1"/>
          </p:cNvSpPr>
          <p:nvPr>
            <p:ph type="sldNum" sz="quarter" idx="12"/>
          </p:nvPr>
        </p:nvSpPr>
        <p:spPr/>
        <p:txBody>
          <a:bodyPr/>
          <a:lstStyle/>
          <a:p>
            <a:fld id="{CC057153-B650-4DEB-B370-79DDCFDCE934}" type="slidenum">
              <a:rPr lang="en-US" smtClean="0"/>
              <a:pPr/>
              <a:t>7</a:t>
            </a:fld>
            <a:endParaRPr lang="en-US" dirty="0"/>
          </a:p>
        </p:txBody>
      </p:sp>
    </p:spTree>
    <p:extLst>
      <p:ext uri="{BB962C8B-B14F-4D97-AF65-F5344CB8AC3E}">
        <p14:creationId xmlns:p14="http://schemas.microsoft.com/office/powerpoint/2010/main" val="611190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00E5-15A3-D3F8-056F-C2BABCEFE0E5}"/>
              </a:ext>
            </a:extLst>
          </p:cNvPr>
          <p:cNvSpPr>
            <a:spLocks noGrp="1"/>
          </p:cNvSpPr>
          <p:nvPr>
            <p:ph type="title"/>
          </p:nvPr>
        </p:nvSpPr>
        <p:spPr/>
        <p:txBody>
          <a:bodyPr/>
          <a:lstStyle/>
          <a:p>
            <a:r>
              <a:rPr lang="en-US">
                <a:ea typeface="+mj-lt"/>
                <a:cs typeface="+mj-lt"/>
              </a:rPr>
              <a:t>5. </a:t>
            </a:r>
            <a:r>
              <a:rPr lang="en-US" b="1" u="sng">
                <a:ea typeface="+mj-lt"/>
                <a:cs typeface="+mj-lt"/>
              </a:rPr>
              <a:t>Model Building</a:t>
            </a:r>
            <a:endParaRPr lang="en-US" b="1" u="sng"/>
          </a:p>
        </p:txBody>
      </p:sp>
      <p:sp>
        <p:nvSpPr>
          <p:cNvPr id="4" name="Content Placeholder 3">
            <a:extLst>
              <a:ext uri="{FF2B5EF4-FFF2-40B4-BE49-F238E27FC236}">
                <a16:creationId xmlns:a16="http://schemas.microsoft.com/office/drawing/2014/main" id="{E30E3273-9890-6507-0B01-487C26719751}"/>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Three models were tested: Linear Regression → baseline, struggled with nonlinear relationships. Random Forest Regressor → strong performance, captured feature interactions. Gradient Boosting Regressor → slightly better accuracy than Random Forest</a:t>
            </a:r>
            <a:r>
              <a:rPr lang="en-US" dirty="0">
                <a:ea typeface="+mn-lt"/>
                <a:cs typeface="+mn-lt"/>
              </a:rPr>
              <a:t>.</a:t>
            </a:r>
            <a:endParaRPr lang="en-US" dirty="0"/>
          </a:p>
        </p:txBody>
      </p:sp>
      <p:sp>
        <p:nvSpPr>
          <p:cNvPr id="5" name="Slide Number Placeholder 4">
            <a:extLst>
              <a:ext uri="{FF2B5EF4-FFF2-40B4-BE49-F238E27FC236}">
                <a16:creationId xmlns:a16="http://schemas.microsoft.com/office/drawing/2014/main" id="{949F20DB-6BC1-0E16-8396-77AA91A13F24}"/>
              </a:ext>
            </a:extLst>
          </p:cNvPr>
          <p:cNvSpPr>
            <a:spLocks noGrp="1"/>
          </p:cNvSpPr>
          <p:nvPr>
            <p:ph type="sldNum" sz="quarter" idx="12"/>
          </p:nvPr>
        </p:nvSpPr>
        <p:spPr/>
        <p:txBody>
          <a:bodyPr/>
          <a:lstStyle/>
          <a:p>
            <a:fld id="{CC057153-B650-4DEB-B370-79DDCFDCE934}" type="slidenum">
              <a:rPr lang="en-US" smtClean="0"/>
              <a:pPr/>
              <a:t>8</a:t>
            </a:fld>
            <a:endParaRPr lang="en-US" dirty="0"/>
          </a:p>
        </p:txBody>
      </p:sp>
    </p:spTree>
    <p:extLst>
      <p:ext uri="{BB962C8B-B14F-4D97-AF65-F5344CB8AC3E}">
        <p14:creationId xmlns:p14="http://schemas.microsoft.com/office/powerpoint/2010/main" val="227180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FB68-8595-5F1E-F3CC-C7B02271292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6DAE59E6-DD64-D5FD-79E8-9A9DCFEF6A0E}"/>
              </a:ext>
            </a:extLst>
          </p:cNvPr>
          <p:cNvPicPr>
            <a:picLocks noGrp="1" noChangeAspect="1"/>
          </p:cNvPicPr>
          <p:nvPr>
            <p:ph sz="quarter" idx="13"/>
          </p:nvPr>
        </p:nvPicPr>
        <p:blipFill>
          <a:blip r:embed="rId2"/>
          <a:stretch>
            <a:fillRect/>
          </a:stretch>
        </p:blipFill>
        <p:spPr>
          <a:xfrm>
            <a:off x="389097" y="137740"/>
            <a:ext cx="11029812" cy="6456774"/>
          </a:xfrm>
          <a:prstGeom prst="rect">
            <a:avLst/>
          </a:prstGeom>
        </p:spPr>
      </p:pic>
    </p:spTree>
    <p:extLst>
      <p:ext uri="{BB962C8B-B14F-4D97-AF65-F5344CB8AC3E}">
        <p14:creationId xmlns:p14="http://schemas.microsoft.com/office/powerpoint/2010/main" val="2839694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5476-A653-FCD7-9CC2-1EEE616AD4E7}"/>
              </a:ext>
            </a:extLst>
          </p:cNvPr>
          <p:cNvSpPr>
            <a:spLocks noGrp="1"/>
          </p:cNvSpPr>
          <p:nvPr>
            <p:ph type="title"/>
          </p:nvPr>
        </p:nvSpPr>
        <p:spPr/>
        <p:txBody>
          <a:bodyPr/>
          <a:lstStyle/>
          <a:p>
            <a:r>
              <a:rPr lang="en-US">
                <a:ea typeface="+mj-lt"/>
                <a:cs typeface="+mj-lt"/>
              </a:rPr>
              <a:t>7. </a:t>
            </a:r>
            <a:r>
              <a:rPr lang="en-US" b="1" u="sng">
                <a:ea typeface="+mj-lt"/>
                <a:cs typeface="+mj-lt"/>
              </a:rPr>
              <a:t>Visualizations</a:t>
            </a:r>
            <a:endParaRPr lang="en-US" b="1" u="sng"/>
          </a:p>
        </p:txBody>
      </p:sp>
      <p:sp>
        <p:nvSpPr>
          <p:cNvPr id="4" name="Content Placeholder 3">
            <a:extLst>
              <a:ext uri="{FF2B5EF4-FFF2-40B4-BE49-F238E27FC236}">
                <a16:creationId xmlns:a16="http://schemas.microsoft.com/office/drawing/2014/main" id="{487EF40A-6173-6A04-948C-F6A81D9CDA2D}"/>
              </a:ext>
            </a:extLst>
          </p:cNvPr>
          <p:cNvSpPr>
            <a:spLocks noGrp="1"/>
          </p:cNvSpPr>
          <p:nvPr>
            <p:ph sz="quarter" idx="13"/>
          </p:nvPr>
        </p:nvSpPr>
        <p:spPr/>
        <p:txBody>
          <a:bodyPr vert="horz" lIns="91440" tIns="45720" rIns="91440" bIns="45720" rtlCol="0" anchor="t">
            <a:normAutofit/>
          </a:bodyPr>
          <a:lstStyle/>
          <a:p>
            <a:r>
              <a:rPr lang="en-US" sz="2400" b="1">
                <a:ea typeface="+mn-lt"/>
                <a:cs typeface="+mn-lt"/>
              </a:rPr>
              <a:t>Correlation Heatmap: Showed relationships between features and price. Feature Importance Bar Chart: Highlighted RAM, Memory, Processor as top drivers. Scatter Plots: Price vs RAM, Price vs Camera MP. Box Plots: Price distribution across brands/models</a:t>
            </a:r>
            <a:r>
              <a:rPr lang="en-US">
                <a:ea typeface="+mn-lt"/>
                <a:cs typeface="+mn-lt"/>
              </a:rPr>
              <a:t>.</a:t>
            </a:r>
            <a:endParaRPr lang="en-US"/>
          </a:p>
        </p:txBody>
      </p:sp>
      <p:sp>
        <p:nvSpPr>
          <p:cNvPr id="5" name="Slide Number Placeholder 4">
            <a:extLst>
              <a:ext uri="{FF2B5EF4-FFF2-40B4-BE49-F238E27FC236}">
                <a16:creationId xmlns:a16="http://schemas.microsoft.com/office/drawing/2014/main" id="{BA8FDBD5-12FF-B25B-AE39-6322B181F8DC}"/>
              </a:ext>
            </a:extLst>
          </p:cNvPr>
          <p:cNvSpPr>
            <a:spLocks noGrp="1"/>
          </p:cNvSpPr>
          <p:nvPr>
            <p:ph type="sldNum" sz="quarter" idx="12"/>
          </p:nvPr>
        </p:nvSpPr>
        <p:spPr/>
        <p:txBody>
          <a:bodyPr/>
          <a:lstStyle/>
          <a:p>
            <a:fld id="{CC057153-B650-4DEB-B370-79DDCFDCE934}" type="slidenum">
              <a:rPr lang="en-US" smtClean="0"/>
              <a:pPr/>
              <a:t>10</a:t>
            </a:fld>
            <a:endParaRPr lang="en-US" dirty="0"/>
          </a:p>
        </p:txBody>
      </p:sp>
    </p:spTree>
    <p:extLst>
      <p:ext uri="{BB962C8B-B14F-4D97-AF65-F5344CB8AC3E}">
        <p14:creationId xmlns:p14="http://schemas.microsoft.com/office/powerpoint/2010/main" val="294178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A6ECB-DC42-0586-82EA-8D76D92327AD}"/>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95B7AD7-FCB8-DE74-7EED-BB02E70A382D}"/>
              </a:ext>
            </a:extLst>
          </p:cNvPr>
          <p:cNvPicPr>
            <a:picLocks noGrp="1" noChangeAspect="1"/>
          </p:cNvPicPr>
          <p:nvPr>
            <p:ph sz="quarter" idx="13"/>
          </p:nvPr>
        </p:nvPicPr>
        <p:blipFill>
          <a:blip r:embed="rId2"/>
          <a:stretch>
            <a:fillRect/>
          </a:stretch>
        </p:blipFill>
        <p:spPr>
          <a:xfrm>
            <a:off x="1066562" y="132835"/>
            <a:ext cx="9817413" cy="6724238"/>
          </a:xfrm>
          <a:prstGeom prst="rect">
            <a:avLst/>
          </a:prstGeom>
        </p:spPr>
      </p:pic>
    </p:spTree>
    <p:extLst>
      <p:ext uri="{BB962C8B-B14F-4D97-AF65-F5344CB8AC3E}">
        <p14:creationId xmlns:p14="http://schemas.microsoft.com/office/powerpoint/2010/main" val="4259363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898A-DF62-4A6A-8881-3102E80046AD}"/>
              </a:ext>
            </a:extLst>
          </p:cNvPr>
          <p:cNvSpPr>
            <a:spLocks noGrp="1"/>
          </p:cNvSpPr>
          <p:nvPr>
            <p:ph type="title"/>
          </p:nvPr>
        </p:nvSpPr>
        <p:spPr/>
        <p:txBody>
          <a:bodyPr/>
          <a:lstStyle/>
          <a:p>
            <a:r>
              <a:rPr lang="en-US">
                <a:ea typeface="+mj-lt"/>
                <a:cs typeface="+mj-lt"/>
              </a:rPr>
              <a:t>8. </a:t>
            </a:r>
            <a:r>
              <a:rPr lang="en-US" b="1" u="sng">
                <a:ea typeface="+mj-lt"/>
                <a:cs typeface="+mj-lt"/>
              </a:rPr>
              <a:t>Recommendations</a:t>
            </a:r>
            <a:endParaRPr lang="en-US" b="1" u="sng"/>
          </a:p>
        </p:txBody>
      </p:sp>
      <p:sp>
        <p:nvSpPr>
          <p:cNvPr id="4" name="Content Placeholder 3">
            <a:extLst>
              <a:ext uri="{FF2B5EF4-FFF2-40B4-BE49-F238E27FC236}">
                <a16:creationId xmlns:a16="http://schemas.microsoft.com/office/drawing/2014/main" id="{7B79036F-D4C7-6FD8-F772-B0BE6E2C4D5B}"/>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Highlight RAM, Memory, Processor, and Camera in marketing campaigns — these drive perceived value and pricing. Battery capacity is a secondary influencer; emphasize only for high-capacity models. </a:t>
            </a:r>
            <a:r>
              <a:rPr lang="en-US" sz="2400" b="1" dirty="0" err="1">
                <a:ea typeface="+mn-lt"/>
                <a:cs typeface="+mn-lt"/>
              </a:rPr>
              <a:t>Colour</a:t>
            </a:r>
            <a:r>
              <a:rPr lang="en-US" sz="2400" b="1" dirty="0">
                <a:ea typeface="+mn-lt"/>
                <a:cs typeface="+mn-lt"/>
              </a:rPr>
              <a:t> and Mobile Height can be ignored in pricing models — negligible impact. Brand positioning matters: premium brands (Samsung, Vivo, Realme) command higher prices even with similar</a:t>
            </a:r>
            <a:r>
              <a:rPr lang="en-US" dirty="0">
                <a:ea typeface="+mn-lt"/>
                <a:cs typeface="+mn-lt"/>
              </a:rPr>
              <a:t> </a:t>
            </a:r>
            <a:r>
              <a:rPr lang="en-US" sz="2400" b="1" dirty="0">
                <a:ea typeface="+mn-lt"/>
                <a:cs typeface="+mn-lt"/>
              </a:rPr>
              <a:t>specs.</a:t>
            </a:r>
            <a:endParaRPr lang="en-US" sz="2400" b="1"/>
          </a:p>
        </p:txBody>
      </p:sp>
      <p:sp>
        <p:nvSpPr>
          <p:cNvPr id="5" name="Slide Number Placeholder 4">
            <a:extLst>
              <a:ext uri="{FF2B5EF4-FFF2-40B4-BE49-F238E27FC236}">
                <a16:creationId xmlns:a16="http://schemas.microsoft.com/office/drawing/2014/main" id="{DA3A94DA-2A71-3B26-6B52-57F89B62B8AA}"/>
              </a:ext>
            </a:extLst>
          </p:cNvPr>
          <p:cNvSpPr>
            <a:spLocks noGrp="1"/>
          </p:cNvSpPr>
          <p:nvPr>
            <p:ph type="sldNum" sz="quarter" idx="12"/>
          </p:nvPr>
        </p:nvSpPr>
        <p:spPr/>
        <p:txBody>
          <a:bodyPr/>
          <a:lstStyle/>
          <a:p>
            <a:fld id="{CC057153-B650-4DEB-B370-79DDCFDCE934}" type="slidenum">
              <a:rPr lang="en-US" smtClean="0"/>
              <a:pPr/>
              <a:t>12</a:t>
            </a:fld>
            <a:endParaRPr lang="en-US" dirty="0"/>
          </a:p>
        </p:txBody>
      </p:sp>
    </p:spTree>
    <p:extLst>
      <p:ext uri="{BB962C8B-B14F-4D97-AF65-F5344CB8AC3E}">
        <p14:creationId xmlns:p14="http://schemas.microsoft.com/office/powerpoint/2010/main" val="782459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AE57-1E69-076A-A5FA-E980DDC33B4B}"/>
              </a:ext>
            </a:extLst>
          </p:cNvPr>
          <p:cNvSpPr>
            <a:spLocks noGrp="1"/>
          </p:cNvSpPr>
          <p:nvPr>
            <p:ph type="title"/>
          </p:nvPr>
        </p:nvSpPr>
        <p:spPr/>
        <p:txBody>
          <a:bodyPr/>
          <a:lstStyle/>
          <a:p>
            <a:r>
              <a:rPr lang="en-US">
                <a:ea typeface="+mj-lt"/>
                <a:cs typeface="+mj-lt"/>
              </a:rPr>
              <a:t>9. </a:t>
            </a:r>
            <a:r>
              <a:rPr lang="en-US" b="1" u="sng">
                <a:ea typeface="+mj-lt"/>
                <a:cs typeface="+mj-lt"/>
              </a:rPr>
              <a:t>Deliverables</a:t>
            </a:r>
            <a:endParaRPr lang="en-US" b="1" u="sng"/>
          </a:p>
        </p:txBody>
      </p:sp>
      <p:sp>
        <p:nvSpPr>
          <p:cNvPr id="4" name="Content Placeholder 3">
            <a:extLst>
              <a:ext uri="{FF2B5EF4-FFF2-40B4-BE49-F238E27FC236}">
                <a16:creationId xmlns:a16="http://schemas.microsoft.com/office/drawing/2014/main" id="{C41B4BE2-ACFA-3375-B6E5-B1778D002B0C}"/>
              </a:ext>
            </a:extLst>
          </p:cNvPr>
          <p:cNvSpPr>
            <a:spLocks noGrp="1"/>
          </p:cNvSpPr>
          <p:nvPr>
            <p:ph sz="quarter" idx="13"/>
          </p:nvPr>
        </p:nvSpPr>
        <p:spPr/>
        <p:txBody>
          <a:bodyPr vert="horz" lIns="91440" tIns="45720" rIns="91440" bIns="45720" rtlCol="0" anchor="t">
            <a:normAutofit/>
          </a:bodyPr>
          <a:lstStyle/>
          <a:p>
            <a:r>
              <a:rPr lang="en-US" sz="2400" b="1">
                <a:ea typeface="+mn-lt"/>
                <a:cs typeface="+mn-lt"/>
              </a:rPr>
              <a:t>Python scripts for preprocessing, feature extraction, and model training. Visualizations (heatmaps, scatter plots, feature importance charts). Comprehensive report summarizing findings and recommendations. Predictive model ready for deployment in pricing</a:t>
            </a:r>
            <a:r>
              <a:rPr lang="en-US" dirty="0">
                <a:ea typeface="+mn-lt"/>
                <a:cs typeface="+mn-lt"/>
              </a:rPr>
              <a:t> </a:t>
            </a:r>
            <a:r>
              <a:rPr lang="en-US" sz="2400" b="1">
                <a:ea typeface="+mn-lt"/>
                <a:cs typeface="+mn-lt"/>
              </a:rPr>
              <a:t>strategy</a:t>
            </a:r>
            <a:r>
              <a:rPr lang="en-US">
                <a:ea typeface="+mn-lt"/>
                <a:cs typeface="+mn-lt"/>
              </a:rPr>
              <a:t>.</a:t>
            </a:r>
            <a:endParaRPr lang="en-US"/>
          </a:p>
        </p:txBody>
      </p:sp>
      <p:sp>
        <p:nvSpPr>
          <p:cNvPr id="5" name="Slide Number Placeholder 4">
            <a:extLst>
              <a:ext uri="{FF2B5EF4-FFF2-40B4-BE49-F238E27FC236}">
                <a16:creationId xmlns:a16="http://schemas.microsoft.com/office/drawing/2014/main" id="{C5C2DF89-C1AC-5905-614C-57B107B3AAC5}"/>
              </a:ext>
            </a:extLst>
          </p:cNvPr>
          <p:cNvSpPr>
            <a:spLocks noGrp="1"/>
          </p:cNvSpPr>
          <p:nvPr>
            <p:ph type="sldNum" sz="quarter" idx="12"/>
          </p:nvPr>
        </p:nvSpPr>
        <p:spPr/>
        <p:txBody>
          <a:bodyPr/>
          <a:lstStyle/>
          <a:p>
            <a:fld id="{CC057153-B650-4DEB-B370-79DDCFDCE934}" type="slidenum">
              <a:rPr lang="en-US" smtClean="0"/>
              <a:pPr/>
              <a:t>13</a:t>
            </a:fld>
            <a:endParaRPr lang="en-US" dirty="0"/>
          </a:p>
        </p:txBody>
      </p:sp>
    </p:spTree>
    <p:extLst>
      <p:ext uri="{BB962C8B-B14F-4D97-AF65-F5344CB8AC3E}">
        <p14:creationId xmlns:p14="http://schemas.microsoft.com/office/powerpoint/2010/main" val="751785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B45D9-5774-42DD-DEE5-FC332B92CA60}"/>
              </a:ext>
            </a:extLst>
          </p:cNvPr>
          <p:cNvSpPr>
            <a:spLocks noGrp="1"/>
          </p:cNvSpPr>
          <p:nvPr>
            <p:ph type="title"/>
          </p:nvPr>
        </p:nvSpPr>
        <p:spPr/>
        <p:txBody>
          <a:bodyPr>
            <a:normAutofit/>
          </a:bodyPr>
          <a:lstStyle/>
          <a:p>
            <a:r>
              <a:rPr lang="en-US">
                <a:ea typeface="+mj-lt"/>
                <a:cs typeface="+mj-lt"/>
              </a:rPr>
              <a:t>10. </a:t>
            </a:r>
            <a:r>
              <a:rPr lang="en-US" b="1" u="sng">
                <a:ea typeface="+mj-lt"/>
                <a:cs typeface="+mj-lt"/>
              </a:rPr>
              <a:t>Conclusion</a:t>
            </a:r>
            <a:endParaRPr lang="en-US" b="1" u="sng"/>
          </a:p>
        </p:txBody>
      </p:sp>
      <p:sp>
        <p:nvSpPr>
          <p:cNvPr id="4" name="Content Placeholder 3">
            <a:extLst>
              <a:ext uri="{FF2B5EF4-FFF2-40B4-BE49-F238E27FC236}">
                <a16:creationId xmlns:a16="http://schemas.microsoft.com/office/drawing/2014/main" id="{31B2E4FA-97FA-A593-AD97-4D46CA0462BC}"/>
              </a:ext>
            </a:extLst>
          </p:cNvPr>
          <p:cNvSpPr>
            <a:spLocks noGrp="1"/>
          </p:cNvSpPr>
          <p:nvPr>
            <p:ph sz="quarter" idx="13"/>
          </p:nvPr>
        </p:nvSpPr>
        <p:spPr/>
        <p:txBody>
          <a:bodyPr vert="horz" lIns="91440" tIns="45720" rIns="91440" bIns="45720" rtlCol="0" anchor="t">
            <a:normAutofit/>
          </a:bodyPr>
          <a:lstStyle/>
          <a:p>
            <a:r>
              <a:rPr lang="en-US" sz="2400" b="1" dirty="0">
                <a:ea typeface="+mn-lt"/>
                <a:cs typeface="+mn-lt"/>
              </a:rPr>
              <a:t>This project demonstrates that RAM, Memory, Processor, and Camera specifications are the most influential features in mobile phone pricing. By focusing on these attributes, the organization can refine its pricing strategy, improve competitiveness, and align marketing efforts with consumer perception of value.</a:t>
            </a:r>
            <a:endParaRPr lang="en-US" sz="2400" b="1"/>
          </a:p>
        </p:txBody>
      </p:sp>
      <p:sp>
        <p:nvSpPr>
          <p:cNvPr id="5" name="Slide Number Placeholder 4">
            <a:extLst>
              <a:ext uri="{FF2B5EF4-FFF2-40B4-BE49-F238E27FC236}">
                <a16:creationId xmlns:a16="http://schemas.microsoft.com/office/drawing/2014/main" id="{8CED4E3B-07E3-E645-66DA-F3DC89F33531}"/>
              </a:ext>
            </a:extLst>
          </p:cNvPr>
          <p:cNvSpPr>
            <a:spLocks noGrp="1"/>
          </p:cNvSpPr>
          <p:nvPr>
            <p:ph type="sldNum" sz="quarter" idx="12"/>
          </p:nvPr>
        </p:nvSpPr>
        <p:spPr/>
        <p:txBody>
          <a:bodyPr/>
          <a:lstStyle/>
          <a:p>
            <a:fld id="{CC057153-B650-4DEB-B370-79DDCFDCE934}" type="slidenum">
              <a:rPr lang="en-US" smtClean="0"/>
              <a:pPr/>
              <a:t>14</a:t>
            </a:fld>
            <a:endParaRPr lang="en-US" dirty="0"/>
          </a:p>
        </p:txBody>
      </p:sp>
    </p:spTree>
    <p:extLst>
      <p:ext uri="{BB962C8B-B14F-4D97-AF65-F5344CB8AC3E}">
        <p14:creationId xmlns:p14="http://schemas.microsoft.com/office/powerpoint/2010/main" val="2946893735"/>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Atlas</vt:lpstr>
      <vt:lpstr>MOBILE PHONE PRICE PREDICTION </vt:lpstr>
      <vt:lpstr>Introduction</vt:lpstr>
      <vt:lpstr>2. Dataset Overview</vt:lpstr>
      <vt:lpstr>3. Data Preprocessing</vt:lpstr>
      <vt:lpstr>4. Feature Extraction</vt:lpstr>
      <vt:lpstr>PowerPoint Presentation</vt:lpstr>
      <vt:lpstr>6. Model Evaluation</vt:lpstr>
      <vt:lpstr>5. Model Building</vt:lpstr>
      <vt:lpstr>PowerPoint Presentation</vt:lpstr>
      <vt:lpstr>7. Visualizations</vt:lpstr>
      <vt:lpstr>PowerPoint Presentation</vt:lpstr>
      <vt:lpstr>8. Recommendations</vt:lpstr>
      <vt:lpstr>9. Deliverables</vt:lpstr>
      <vt:lpstr>10.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262</cp:revision>
  <dcterms:created xsi:type="dcterms:W3CDTF">2026-04-25T14:32:55Z</dcterms:created>
  <dcterms:modified xsi:type="dcterms:W3CDTF">2026-04-25T16:11:40Z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